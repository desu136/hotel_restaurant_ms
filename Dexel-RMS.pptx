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80490" y="1097280"/>
            <a:ext cx="94484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34095" cy="2471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Arial"/>
              </a:defRPr>
            </a:pPr>
            <a:r>
              <a:t>HOTEL &amp; RESTAURANT</a:t>
            </a:r>
          </a:p>
          <a:p>
            <a:pPr>
              <a:spcAft>
                <a:spcPts val="1400"/>
              </a:spcAft>
              <a:defRPr sz="3600" b="1">
                <a:solidFill>
                  <a:srgbClr val="F1F5F9"/>
                </a:solidFill>
                <a:latin typeface="Arial"/>
              </a:defRPr>
            </a:pPr>
            <a:r>
              <a:t>Management System (RMS)</a:t>
            </a:r>
          </a:p>
          <a:p>
            <a:pPr>
              <a:spcAft>
                <a:spcPts val="2400"/>
              </a:spcAft>
              <a:defRPr sz="1800">
                <a:solidFill>
                  <a:srgbClr val="38BDF8"/>
                </a:solidFill>
                <a:latin typeface="Arial"/>
              </a:defRPr>
            </a:pPr>
            <a:r>
              <a:t>Enterprise Multi-Tenant &amp; Multi-Branch SaaS Platform</a:t>
            </a:r>
          </a:p>
          <a:p>
            <a:pPr>
              <a:spcAft>
                <a:spcPts val="3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Featuring Interactive Kitchen Display System (KDS), Public QR Digital Menu, &amp; RBAC</a:t>
            </a:r>
          </a:p>
          <a:p>
            <a:pPr>
              <a:defRPr sz="1200" b="1">
                <a:solidFill>
                  <a:srgbClr val="34D399"/>
                </a:solidFill>
                <a:latin typeface="Arial"/>
              </a:defRPr>
            </a:pPr>
            <a:r>
              <a:t>Dexel </a:t>
            </a:r>
            <a:r>
              <a:rPr lang="en-US"/>
              <a:t>RMS </a:t>
            </a:r>
            <a:r>
              <a:t>Platform • Complete Technical &amp; Operational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Arial"/>
              </a:defRPr>
            </a:pPr>
            <a:r>
              <a:t>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630" y="76835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rial"/>
              </a:defRPr>
            </a:pPr>
            <a:r>
              <a:t>Executive Summary &amp; Core Value Proposition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50815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85055" cy="105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Multi-Tenant Architecture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Complete isolation for hospitality businesses. Enterprise data security, independent tenant subdomains, and subscription lifecycle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737360"/>
            <a:ext cx="5150815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4785055" cy="105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BBF24"/>
                </a:solidFill>
                <a:latin typeface="Arial"/>
              </a:defRPr>
            </a:pPr>
            <a:r>
              <a:t>Multi-Branch Management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Centralized control for multi-location restaurant chains. Master menu catalogs with branch-specific pricing, stock overrides, and tax configurations.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50815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785055" cy="105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4D399"/>
                </a:solidFill>
                <a:latin typeface="Arial"/>
              </a:defRPr>
            </a:pPr>
            <a:r>
              <a:t>Interactive Kitchen KDS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Real-time ticket board for kitchen staff. Seamless status progression from Pending → Preparing → Ready → Completed with live audio/visual chimes.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023360"/>
            <a:ext cx="5150815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206240"/>
            <a:ext cx="4785055" cy="105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A78BFA"/>
                </a:solidFill>
                <a:latin typeface="Arial"/>
              </a:defRPr>
            </a:pPr>
            <a:r>
              <a:t>QR Digital Menu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Contactless scan-to-order system. Dining guests submit customized food orders directly from their mobile phones without waiting for staff.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rial"/>
              </a:defRPr>
            </a:pPr>
            <a:r>
              <a:t>System Architecture &amp; Core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54203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22677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Frontend Application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Next.js 14 / App Router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TypeScript &amp; Tailwind CSS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Lucide Icons &amp; Framer Motion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Responsive Mobile-First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37360"/>
            <a:ext cx="254203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65960"/>
            <a:ext cx="22677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BBF24"/>
                </a:solidFill>
                <a:latin typeface="Arial"/>
              </a:defRPr>
            </a:pPr>
            <a:r>
              <a:t>Backend Services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Node.js &amp; Express API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Prisma ORM with PostgreSQL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JWT Auth &amp; RBAC Security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EmailJS Password Reset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37360"/>
            <a:ext cx="254203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965960"/>
            <a:ext cx="22677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Database &amp; Storage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PostgreSQL Relational DB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Multi-Tenant Schema Design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Cascade Deletion Integrity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Indexed Performance Queries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737360"/>
            <a:ext cx="254203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965960"/>
            <a:ext cx="22677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A78BFA"/>
                </a:solidFill>
                <a:latin typeface="Arial"/>
              </a:defRPr>
            </a:pPr>
            <a:r>
              <a:t>Real-time &amp; Integrations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KDS Live Board Syncing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Dynamic QR Code Engine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Printer Ticket Chit Generation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Dexel Audit Sync Logs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Arial"/>
              </a:defRPr>
            </a:pPr>
            <a:r>
              <a:t>SECURITY &amp; PERMISSIONS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rial"/>
              </a:defRPr>
            </a:pPr>
            <a:r>
              <a:t>Role-Based Access Control (RBAC) Hierarchy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2900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920240"/>
            <a:ext cx="3063240" cy="3657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SUPER_ADMIN (Platform Admin)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Full tenant management, approving/rejecting tenant applications, plan pricing, audit 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42900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920240"/>
            <a:ext cx="306324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2024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HOTEL_OWNER (Enterprise Owner)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7744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Multi-branch creation, master menu catalog, hiring Branch Managers, financial overview.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737360"/>
            <a:ext cx="342900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920240"/>
            <a:ext cx="3063240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92024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RESTAURANT_MANAGER (Branch Manager)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37744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Branch inventory/pricing overrides, hiring Waiters/Chefs, assigning dining room tables.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342900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206240"/>
            <a:ext cx="3063240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0624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CHEF / KITCHEN (Kitchen Staff)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6344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Access interactive KDS board, track preparation timers, update ticket ready status.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4023360"/>
            <a:ext cx="342900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4206240"/>
            <a:ext cx="306324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420624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WAITER / POS (Service Staff)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66344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View assigned table floor plan, take orders, receive kitchen ready alerts, checkout tabs.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80" y="4023360"/>
            <a:ext cx="342900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4206240"/>
            <a:ext cx="3063240" cy="3657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420624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CUSTOMER (Dining Guest)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66344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Scan table QR code, browse interactive digital menu, place orders directly to kitchen.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Arial"/>
              </a:defRPr>
            </a:pPr>
            <a:r>
              <a:t>AUTHENTICATION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rial"/>
              </a:defRPr>
            </a:pPr>
            <a:r>
              <a:t>Account Registration &amp; Password Security Policies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542032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20"/>
            <a:ext cx="22677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1. Self-Registration (Public)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Owners sign up via /register selecting custom password &amp; subscription plan.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37360"/>
            <a:ext cx="2542032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874520"/>
            <a:ext cx="22677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BBF24"/>
                </a:solidFill>
                <a:latin typeface="Arial"/>
              </a:defRPr>
            </a:pPr>
            <a:r>
              <a:t>2. Admin Review &amp; Approval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Super Admin reviews pending application in /dashboard/tenants and clicks Approve.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37360"/>
            <a:ext cx="2542032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874520"/>
            <a:ext cx="22677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3. Account Activation &amp; Login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Tenant status switches to ACTIVE. Owner logs in using their custom password.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737360"/>
            <a:ext cx="2542032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874520"/>
            <a:ext cx="22677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A78BFA"/>
                </a:solidFill>
                <a:latin typeface="Arial"/>
              </a:defRPr>
            </a:pPr>
            <a:r>
              <a:t>4. Admin Creation (Fallback)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Tenants created directly in Admin portal use initial default password: Welcome@1234.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10728655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480560"/>
            <a:ext cx="1018001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Password Recovery &amp; EmailJS Integration</a:t>
            </a:r>
          </a:p>
          <a:p>
            <a:pPr>
              <a:defRPr sz="1300">
                <a:solidFill>
                  <a:srgbClr val="F1F5F9"/>
                </a:solidFill>
                <a:latin typeface="Arial"/>
              </a:defRPr>
            </a:pPr>
            <a:r>
              <a:t>• Seamless Forgot Password flow accessible directly from the login page modal.</a:t>
            </a:r>
            <a:br/>
            <a:r>
              <a:t>• Integrates with EmailJS service to deliver tokenized password reset links securely to registered user emails.</a:t>
            </a:r>
            <a:br/>
            <a:r>
              <a:t>• Backend route enforces token validation and password hashing before updating user security credentials.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Arial"/>
              </a:defRPr>
            </a:pPr>
            <a:r>
              <a:t>KITCHEN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rial"/>
              </a:defRPr>
            </a:pPr>
            <a:r>
              <a:t>Kitchen Display System (KDS)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54203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2267712" cy="2368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BBF24"/>
                </a:solidFill>
                <a:latin typeface="Arial"/>
              </a:defRPr>
            </a:pPr>
            <a:r>
              <a:t>🟡 </a:t>
            </a:r>
            <a:r>
              <a:rPr lang="en-US"/>
              <a:t> </a:t>
            </a:r>
            <a:r>
              <a:t>Step 1: PENDING</a:t>
            </a:r>
          </a:p>
          <a:p>
            <a:pPr>
              <a:spcAft>
                <a:spcPts val="1200"/>
              </a:spcAft>
              <a:defRPr sz="1300" b="1">
                <a:solidFill>
                  <a:srgbClr val="F1F5F9"/>
                </a:solidFill>
                <a:latin typeface="Arial"/>
              </a:defRPr>
            </a:pPr>
            <a:r>
              <a:t>Incoming Orders</a:t>
            </a:r>
          </a:p>
          <a:p>
            <a:pPr>
              <a:spcAft>
                <a:spcPts val="14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New orders from POS or QR Menu arrive. Chef clicks 'Start Preparing'.</a:t>
            </a:r>
          </a:p>
          <a:p>
            <a:pPr>
              <a:defRPr sz="1100">
                <a:solidFill>
                  <a:srgbClr val="FBBF24"/>
                </a:solidFill>
                <a:latin typeface="Arial"/>
              </a:defRPr>
            </a:pPr>
            <a:r>
              <a:t>Key Feature:</a:t>
            </a:r>
            <a:br/>
            <a:r>
              <a:t>Interactive action buttons with instant KDS board state update and audio alert.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37360"/>
            <a:ext cx="254203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65960"/>
            <a:ext cx="2267712" cy="2368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  <a:latin typeface="Arial"/>
              </a:defRPr>
            </a:pPr>
            <a:r>
              <a:t>🔵 </a:t>
            </a:r>
            <a:r>
              <a:rPr lang="en-US"/>
              <a:t> </a:t>
            </a:r>
            <a:r>
              <a:t>Step 2: PREPARING</a:t>
            </a:r>
          </a:p>
          <a:p>
            <a:pPr>
              <a:spcAft>
                <a:spcPts val="1200"/>
              </a:spcAft>
              <a:defRPr sz="1300" b="1">
                <a:solidFill>
                  <a:srgbClr val="F1F5F9"/>
                </a:solidFill>
                <a:latin typeface="Arial"/>
              </a:defRPr>
            </a:pPr>
            <a:r>
              <a:t>Food Preparation</a:t>
            </a:r>
          </a:p>
          <a:p>
            <a:pPr>
              <a:spcAft>
                <a:spcPts val="14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Ticket shows active preparation timer. Chef clicks 'Mark Order Ready'.</a:t>
            </a:r>
          </a:p>
          <a:p>
            <a:pPr>
              <a:defRPr sz="1100">
                <a:solidFill>
                  <a:srgbClr val="FBBF24"/>
                </a:solidFill>
                <a:latin typeface="Arial"/>
              </a:defRPr>
            </a:pPr>
            <a:r>
              <a:t>Key Feature:</a:t>
            </a:r>
            <a:br/>
            <a:r>
              <a:t>Interactive action buttons with instant KDS board state update and audio alert.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37360"/>
            <a:ext cx="254203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965960"/>
            <a:ext cx="2267712" cy="2138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🟢 </a:t>
            </a:r>
            <a:r>
              <a:rPr lang="en-US"/>
              <a:t> </a:t>
            </a:r>
            <a:r>
              <a:t>Step 3: READY</a:t>
            </a:r>
          </a:p>
          <a:p>
            <a:pPr>
              <a:spcAft>
                <a:spcPts val="1200"/>
              </a:spcAft>
              <a:defRPr sz="1300" b="1">
                <a:solidFill>
                  <a:srgbClr val="F1F5F9"/>
                </a:solidFill>
                <a:latin typeface="Arial"/>
              </a:defRPr>
            </a:pPr>
            <a:r>
              <a:t>Dish Pickup Ready</a:t>
            </a:r>
          </a:p>
          <a:p>
            <a:pPr>
              <a:spcAft>
                <a:spcPts val="14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Waiter receives instant notification. Food picked up for table service.</a:t>
            </a:r>
          </a:p>
          <a:p>
            <a:pPr>
              <a:defRPr sz="1100">
                <a:solidFill>
                  <a:srgbClr val="FBBF24"/>
                </a:solidFill>
                <a:latin typeface="Arial"/>
              </a:defRPr>
            </a:pPr>
            <a:r>
              <a:t>Key Feature:</a:t>
            </a:r>
            <a:br/>
            <a:r>
              <a:t>Interactive action buttons with instant KDS board state update and audio alert.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737360"/>
            <a:ext cx="254203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965960"/>
            <a:ext cx="2267712" cy="2368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94A3B8"/>
                </a:solidFill>
                <a:latin typeface="Arial"/>
              </a:defRPr>
            </a:pPr>
            <a:r>
              <a:t>⚪ Step 4: COMPLETED</a:t>
            </a:r>
          </a:p>
          <a:p>
            <a:pPr>
              <a:spcAft>
                <a:spcPts val="1200"/>
              </a:spcAft>
              <a:defRPr sz="1300" b="1">
                <a:solidFill>
                  <a:srgbClr val="F1F5F9"/>
                </a:solidFill>
                <a:latin typeface="Arial"/>
              </a:defRPr>
            </a:pPr>
            <a:r>
              <a:t>Ticket Archived</a:t>
            </a:r>
          </a:p>
          <a:p>
            <a:pPr>
              <a:spcAft>
                <a:spcPts val="14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Staff clicks 'Complete &amp; Clear Ticket' to archive ticket from board.</a:t>
            </a:r>
          </a:p>
          <a:p>
            <a:pPr>
              <a:defRPr sz="1100">
                <a:solidFill>
                  <a:srgbClr val="FBBF24"/>
                </a:solidFill>
                <a:latin typeface="Arial"/>
              </a:defRPr>
            </a:pPr>
            <a:r>
              <a:t>Key Feature:</a:t>
            </a:r>
            <a:br/>
            <a:r>
              <a:t>Interactive action buttons with instant KDS board state update and audio alert.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Arial"/>
              </a:defRPr>
            </a:pPr>
            <a:r>
              <a:t>FLOOR &amp; POS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rial"/>
              </a:defRPr>
            </a:pPr>
            <a:r>
              <a:t>Dining Room Layout &amp; Waiter Table Conflict Prevention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5081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85055" cy="3153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4D399"/>
                </a:solidFill>
                <a:latin typeface="Arial"/>
              </a:defRPr>
            </a:pPr>
            <a:r>
              <a:t>Waiter Table Assignment Conflict Prevention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Single-Waiter Ownership: The system strictly assigns dining tables to a single waiter within each branch.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Smart Form Filtering: When creating or updating a waiter account in EmployeeFormModal, tables already assigned to another waiter are automatically filtered out.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Zero Order Confusion: Prevents multiple waiters from taking conflicting orders for the same physical table.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Clear Responsibility: Simplifies tip tracking, table service notifications, and final billing checkout.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15081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785055" cy="3553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Role Hierarchy: Manager Creation Rules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Owner-Only Privilege: RESTAURANT_MANAGER accounts are restricted from creating other Manager accounts.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Strict Backend Validation: Server-side employee endpoint validates creator role code (only HOTEL_OWNER &amp; SUPER_ADMIN allowed).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Frontend Role Guards: Manager role options hidden in Employee dropdown when logged in as Branch Manager.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Enterprise Security: Maintains organizational accountability and prevents unauthorized elevated access creation.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Arial"/>
              </a:defRPr>
            </a:pPr>
            <a:r>
              <a:t>GUEST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rial"/>
              </a:defRPr>
            </a:pPr>
            <a:r>
              <a:t>Customer Digital QR Code Ordering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50815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850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1. Scan QR Code</a:t>
            </a:r>
          </a:p>
          <a:p>
            <a:pPr>
              <a:defRPr sz="1300">
                <a:solidFill>
                  <a:srgbClr val="F1F5F9"/>
                </a:solidFill>
                <a:latin typeface="Arial"/>
              </a:defRPr>
            </a:pPr>
            <a:r>
              <a:t>Guest scans dynamic table QR code using phone camera.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737360"/>
            <a:ext cx="5150815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47850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BBF24"/>
                </a:solidFill>
                <a:latin typeface="Arial"/>
              </a:defRPr>
            </a:pPr>
            <a:r>
              <a:t>2. Browse Digital Menu</a:t>
            </a:r>
          </a:p>
          <a:p>
            <a:pPr>
              <a:defRPr sz="1300">
                <a:solidFill>
                  <a:srgbClr val="F1F5F9"/>
                </a:solidFill>
                <a:latin typeface="Arial"/>
              </a:defRPr>
            </a:pPr>
            <a:r>
              <a:t>Responsive catalog opens with item photos, prices &amp; dietary tags.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50815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7850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4D399"/>
                </a:solidFill>
                <a:latin typeface="Arial"/>
              </a:defRPr>
            </a:pPr>
            <a:r>
              <a:t>3. Customize &amp; Submit</a:t>
            </a:r>
          </a:p>
          <a:p>
            <a:pPr>
              <a:defRPr sz="1300">
                <a:solidFill>
                  <a:srgbClr val="F1F5F9"/>
                </a:solidFill>
                <a:latin typeface="Arial"/>
              </a:defRPr>
            </a:pPr>
            <a:r>
              <a:t>Select toppings, allergies &amp; fire order directly to kitchen.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023360"/>
            <a:ext cx="5150815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206240"/>
            <a:ext cx="47850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A78BFA"/>
                </a:solidFill>
                <a:latin typeface="Arial"/>
              </a:defRPr>
            </a:pPr>
            <a:r>
              <a:t>4. Track Live Status</a:t>
            </a:r>
          </a:p>
          <a:p>
            <a:pPr>
              <a:defRPr sz="1300">
                <a:solidFill>
                  <a:srgbClr val="F1F5F9"/>
                </a:solidFill>
                <a:latin typeface="Arial"/>
              </a:defRPr>
            </a:pPr>
            <a:r>
              <a:t>Phone screen shows real-time preparation status updates.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Arial"/>
              </a:defRPr>
            </a:pPr>
            <a:r>
              <a:t>ADMINISTRATION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rial"/>
              </a:defRPr>
            </a:pPr>
            <a:r>
              <a:t>Super Admin Control &amp; Data Lifecycle Integrity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180015" cy="2579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BBF24"/>
                </a:solidFill>
                <a:latin typeface="Arial"/>
              </a:defRPr>
            </a:pPr>
            <a:r>
              <a:t>System Reliability &amp; Data Integrity Governance</a:t>
            </a:r>
          </a:p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• Tenant Status Lifecycle: 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  Pending → Active → Suspended → Rejected. Active status strictly enforced across all API routes.</a:t>
            </a:r>
          </a:p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• Cascade Deletion Cleanups: 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  Deleting a tenant purges all related users, branches, categories, menu items, orders, tables, and subscription logs safely in PostgreSQL.</a:t>
            </a:r>
          </a:p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• Master Menu Catalog Sync: 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  Owners synchronize master catalog items across multiple branch locations with local price &amp; stock overrides.</a:t>
            </a:r>
          </a:p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• Audit Logging &amp; Sync Triggers: 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  Comprehensive audit log tracking for sensitive platform events and Dexel sync log operations.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34095" cy="2112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BBF24"/>
                </a:solidFill>
                <a:latin typeface="Arial"/>
              </a:defRPr>
            </a:pPr>
            <a:r>
              <a:t>THANK YOU!</a:t>
            </a:r>
          </a:p>
          <a:p>
            <a:pPr>
              <a:spcAft>
                <a:spcPts val="1400"/>
              </a:spcAft>
              <a:defRPr sz="2400" b="1">
                <a:solidFill>
                  <a:srgbClr val="F1F5F9"/>
                </a:solidFill>
                <a:latin typeface="Arial"/>
              </a:defRPr>
            </a:pPr>
            <a:r>
              <a:t>Hotel &amp; Restaurant Management System (RMS)</a:t>
            </a:r>
          </a:p>
          <a:p>
            <a:pPr>
              <a:spcAft>
                <a:spcPts val="24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A complete, production-ready solution delivering seamless digital menu ordering, real-time kitchen ticket management, and enterprise multi-branch intelligence.</a:t>
            </a:r>
          </a:p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Refer to USER_GUIDE.md for complete operational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6372</Words>
  <Application>WPS Presentation</Application>
  <PresentationFormat>On-screen Show (4:3)</PresentationFormat>
  <Paragraphs>172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Arial</vt:lpstr>
      <vt:lpstr>DejaVu Sans</vt:lpstr>
      <vt:lpstr>Calibri</vt:lpstr>
      <vt:lpstr>Microsoft YaHei</vt:lpstr>
      <vt:lpstr>Droid Sans Fallback</vt:lpstr>
      <vt:lpstr>Arial Unicode MS</vt:lpstr>
      <vt:lpstr>OpenSymbol</vt:lpstr>
      <vt:lpstr>Noto Sans Symbols2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ebisa</cp:lastModifiedBy>
  <cp:revision>15</cp:revision>
  <dcterms:created xsi:type="dcterms:W3CDTF">2026-09-17T07:16:47Z</dcterms:created>
  <dcterms:modified xsi:type="dcterms:W3CDTF">2026-09-17T07:16:47Z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